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0" r:id="rId1"/>
    <p:sldMasterId id="2147483683" r:id="rId2"/>
  </p:sldMasterIdLst>
  <p:handoutMasterIdLst>
    <p:handoutMasterId r:id="rId13"/>
  </p:handout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3" userDrawn="1">
          <p15:clr>
            <a:srgbClr val="A4A3A4"/>
          </p15:clr>
        </p15:guide>
        <p15:guide id="2" pos="2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7437"/>
    <a:srgbClr val="A7934B"/>
    <a:srgbClr val="003057"/>
    <a:srgbClr val="262626"/>
    <a:srgbClr val="EEB2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6327"/>
  </p:normalViewPr>
  <p:slideViewPr>
    <p:cSldViewPr snapToGrid="0" snapToObjects="1">
      <p:cViewPr varScale="1">
        <p:scale>
          <a:sx n="75" d="100"/>
          <a:sy n="75" d="100"/>
        </p:scale>
        <p:origin x="72" y="582"/>
      </p:cViewPr>
      <p:guideLst>
        <p:guide orient="horz" pos="773"/>
        <p:guide pos="24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A6E295-2078-3A4C-9B3B-128821A974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03100D-CACA-0F41-B537-339726C6A5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7CCEE-F6A5-9F4C-8CE3-50501077053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8C585-FF88-2E4D-AADE-9C9529D2F7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F8045-3A37-824A-8710-57C502BDEF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57D50-C692-A448-91EE-4B0FAD320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93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7EE9D9-49A7-AE42-84D1-352EBEE4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5684" y="1149178"/>
            <a:ext cx="6795912" cy="264389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4800"/>
              </a:lnSpc>
              <a:defRPr sz="4200" b="1" i="0" cap="none" spc="0" baseline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5682" y="3793068"/>
            <a:ext cx="6795913" cy="16848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ts val="3600"/>
              </a:lnSpc>
              <a:buNone/>
              <a:defRPr sz="1800" b="0" cap="none" spc="0" baseline="0">
                <a:solidFill>
                  <a:srgbClr val="8574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25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BEFA-1B24-BD40-967B-22409382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28C1E-32D8-CF48-A92C-E6AC112D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E5600-2DCC-EB44-9203-121C72C9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FBA1A-F7CC-514B-BEB5-104BA2E0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1CD0E1A-EFF5-9943-8AA6-521A2B23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150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768D-628B-BB40-BEE5-32E2718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048" y="1215483"/>
            <a:ext cx="5615353" cy="422565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215483"/>
            <a:ext cx="5613400" cy="422565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BF72E-E074-E741-8514-3417AC9D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52637-104D-064E-9B91-0BC72B6E1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4C3EF-E136-164D-954C-112EADD9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9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235113"/>
            <a:ext cx="561763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2078658"/>
            <a:ext cx="5617633" cy="336247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35113"/>
            <a:ext cx="56388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78658"/>
            <a:ext cx="5638800" cy="336247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BD322-BC93-4244-92C5-7651A797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79E3B-E843-6343-9ECC-916F6A2E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D151B-D611-8446-9323-A31F4308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19FCA3D-219A-9547-A7A7-4EB9BE7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460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5170-396F-CE4F-A0AB-300CE970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6F2CA-2DD1-AF41-91EF-4D055700C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35E81-A1AE-8442-89DE-148AC4FC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583BD-E195-8D45-B88C-3F15BB70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2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AE419-AE08-F348-87A6-E9445B33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02ABE-49F8-8E43-8B96-1F432917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0AFCF-7504-9244-8529-F384A6BD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0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C417-39B3-8947-8902-0153B500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AD0-D969-274E-8AC0-FC5A894F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768" y="457201"/>
            <a:ext cx="7497233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FBC2C-9388-6049-AEF3-C1606676A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49"/>
            <a:ext cx="3932767" cy="35941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A470E-5CA9-A545-B98E-1EFAA05E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ABCA5-3B76-9E47-892E-A475FC83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5A757-8D62-3444-9BDB-1CB584B7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91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E57A-36CB-814D-B1A5-9012A244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259A3-587A-6D4A-AEF8-E4225996F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13768" y="457201"/>
            <a:ext cx="7497233" cy="49839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C1918-55BE-A644-8FDC-9E18F9A99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50"/>
            <a:ext cx="3932767" cy="31662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DD8F2-DDA7-354F-9FEA-A07E773A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10CDF-1139-2249-8F5E-3E7043CC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F2438-4A98-5A4C-9057-FC3F0CBC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5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86C1-1209-CD40-86E4-C72B7974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57BF9-8D1A-FD41-A037-BF729754D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231DA-AB5C-C240-9332-9CC3D46A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7AB74-A3C5-CF45-A5A3-124A9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83F40-6572-9341-AE1A-0342450A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3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A8079-4F60-D34B-96A4-C32E3C6A4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1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13FC5-8FDB-D640-8F18-46D09DD7F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1" y="365125"/>
            <a:ext cx="8801100" cy="5811838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9F9D1-30A5-3C44-9E01-F570121CC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C5DF8-E50D-1745-97C5-A23C0E511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D20E1-9670-8A49-9442-60CC2307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98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342900" rtl="0" eaLnBrk="1" latinLnBrk="0" hangingPunct="1">
        <a:spcBef>
          <a:spcPct val="0"/>
        </a:spcBef>
        <a:buNone/>
        <a:defRPr sz="3600" b="1" kern="1200">
          <a:solidFill>
            <a:srgbClr val="857437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794E2-0939-7444-A82A-8BD5C7FA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6A5F8-57A3-204B-9489-10B6EA097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215485"/>
            <a:ext cx="11430000" cy="4225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2C088-FD5F-6E47-B5E9-B42B8CA51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441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554A5-B4DD-7045-B047-B7DA6D1E70A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B8B9A-12D6-EA40-AB29-6918054B5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6154" y="5441135"/>
            <a:ext cx="5941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842A-A21A-C542-88CC-30F0DD78D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5441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8206-0642-9F48-9727-6B519CB285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032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rgbClr val="A7934B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E95FB-AFDA-C24E-BDC1-87184FFF6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851" y="926757"/>
            <a:ext cx="5564381" cy="28663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b="1" dirty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Sleep Tracking for Cancer Patients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66134-3B68-CA46-9583-81F439EB8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8850" y="3913388"/>
            <a:ext cx="6795913" cy="168486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574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Lael Rudd</a:t>
            </a:r>
          </a:p>
          <a:p>
            <a:pPr>
              <a:lnSpc>
                <a:spcPct val="100000"/>
              </a:lnSpc>
            </a:pPr>
            <a:r>
              <a:rPr lang="en-US" dirty="0"/>
              <a:t>CS 6440 Fall 2025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574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lrudd6@gatech.com</a:t>
            </a:r>
          </a:p>
        </p:txBody>
      </p:sp>
    </p:spTree>
    <p:extLst>
      <p:ext uri="{BB962C8B-B14F-4D97-AF65-F5344CB8AC3E}">
        <p14:creationId xmlns:p14="http://schemas.microsoft.com/office/powerpoint/2010/main" val="2789775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6A601C-F7AC-0C4F-9F21-FDFB1BAE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Project 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02EF4-BE1D-8146-9846-177F3B789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3057"/>
                </a:solidFill>
              </a:rPr>
              <a:t>Lightweight tool that simulates and visualizes sleep patterns for cancer patients</a:t>
            </a:r>
          </a:p>
          <a:p>
            <a:r>
              <a:rPr lang="en-US" dirty="0"/>
              <a:t>Converts sleep data into FHIR Patient, Condition and Observation resources</a:t>
            </a:r>
          </a:p>
          <a:p>
            <a:r>
              <a:rPr lang="en-US" dirty="0">
                <a:solidFill>
                  <a:srgbClr val="003057"/>
                </a:solidFill>
              </a:rPr>
              <a:t>Simple, interactive dashboard for viewing multiple nights of sleep</a:t>
            </a:r>
          </a:p>
          <a:p>
            <a:r>
              <a:rPr lang="en-US" dirty="0"/>
              <a:t>Deployed on Rendor</a:t>
            </a:r>
            <a:endParaRPr lang="en-US" dirty="0">
              <a:solidFill>
                <a:srgbClr val="0030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116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58B3-B0F0-09C2-E984-4884659A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945B54-71C6-5A5B-05C4-791BBC536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Background and Need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AD25A-0B27-86A7-E105-9A882115B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23474"/>
            <a:ext cx="11430000" cy="4488365"/>
          </a:xfrm>
        </p:spPr>
        <p:txBody>
          <a:bodyPr/>
          <a:lstStyle/>
          <a:p>
            <a:r>
              <a:rPr lang="en-US" dirty="0">
                <a:solidFill>
                  <a:srgbClr val="003057"/>
                </a:solidFill>
              </a:rPr>
              <a:t>Sleep problems are common during cancer treatment</a:t>
            </a:r>
          </a:p>
          <a:p>
            <a:r>
              <a:rPr lang="en-US" dirty="0"/>
              <a:t>Sleep data is often buried in unstructured clinical notes</a:t>
            </a:r>
          </a:p>
          <a:p>
            <a:r>
              <a:rPr lang="en-US" dirty="0">
                <a:solidFill>
                  <a:srgbClr val="003057"/>
                </a:solidFill>
              </a:rPr>
              <a:t>Sleep trackers exist (such as wearable devices) but use proprietary and non-FHIR formats</a:t>
            </a:r>
          </a:p>
          <a:p>
            <a:r>
              <a:rPr lang="en-US" dirty="0"/>
              <a:t>Clinicians need structured data such as FHIR formats</a:t>
            </a:r>
            <a:endParaRPr lang="en-US" dirty="0">
              <a:solidFill>
                <a:srgbClr val="0030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932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5DAEA5-6545-964C-9D5B-E32F44284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Solution Overview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21231-F76F-9C4D-85F8-96525AB67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23474"/>
            <a:ext cx="11430000" cy="4488365"/>
          </a:xfrm>
        </p:spPr>
        <p:txBody>
          <a:bodyPr/>
          <a:lstStyle/>
          <a:p>
            <a:r>
              <a:rPr lang="en-US" dirty="0">
                <a:solidFill>
                  <a:srgbClr val="003057"/>
                </a:solidFill>
              </a:rPr>
              <a:t>Python backend using Flask</a:t>
            </a:r>
          </a:p>
          <a:p>
            <a:r>
              <a:rPr lang="en-US" dirty="0"/>
              <a:t>Synthetic sleep generator (single and multi-night)</a:t>
            </a:r>
          </a:p>
          <a:p>
            <a:r>
              <a:rPr lang="en-US" dirty="0"/>
              <a:t>Dashboard with HTML, JavaScript, and Chart.js visualization</a:t>
            </a:r>
          </a:p>
          <a:p>
            <a:r>
              <a:rPr lang="en-US" dirty="0"/>
              <a:t>FHIR JSON using Resources: </a:t>
            </a:r>
          </a:p>
          <a:p>
            <a:pPr lvl="1"/>
            <a:r>
              <a:rPr lang="en-US" i="1" dirty="0"/>
              <a:t>Patient</a:t>
            </a:r>
          </a:p>
          <a:p>
            <a:pPr lvl="1"/>
            <a:r>
              <a:rPr lang="en-US" i="1" dirty="0"/>
              <a:t>Condition</a:t>
            </a:r>
            <a:r>
              <a:rPr lang="en-US" dirty="0"/>
              <a:t> (Cancer)</a:t>
            </a:r>
          </a:p>
          <a:p>
            <a:pPr lvl="1"/>
            <a:r>
              <a:rPr lang="en-US" i="1" dirty="0"/>
              <a:t>Observation</a:t>
            </a:r>
            <a:r>
              <a:rPr lang="en-US" dirty="0"/>
              <a:t> (Sleep duration and data)</a:t>
            </a:r>
          </a:p>
          <a:p>
            <a:r>
              <a:rPr lang="en-US" dirty="0"/>
              <a:t>Deployed on Render</a:t>
            </a:r>
          </a:p>
        </p:txBody>
      </p:sp>
    </p:spTree>
    <p:extLst>
      <p:ext uri="{BB962C8B-B14F-4D97-AF65-F5344CB8AC3E}">
        <p14:creationId xmlns:p14="http://schemas.microsoft.com/office/powerpoint/2010/main" val="420121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73DB-5F59-1C10-69F5-DC6BC345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587EC319-4617-3A12-9D0B-28E978FD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86" y="1215485"/>
            <a:ext cx="9658628" cy="4225650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D68153C-DB82-D5B8-90EF-C77BA825B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</p:spPr>
        <p:txBody>
          <a:bodyPr anchor="ctr">
            <a:normAutofit/>
          </a:bodyPr>
          <a:lstStyle/>
          <a:p>
            <a:r>
              <a:rPr lang="en-US" b="1"/>
              <a:t>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496533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405B-54B2-93EC-318E-E0C3597E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043BA8-3F77-63EB-8A12-4D1736B6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Workflow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4452-72FA-0AEA-AC4A-E6079F942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23474"/>
            <a:ext cx="11430000" cy="4488365"/>
          </a:xfrm>
        </p:spPr>
        <p:txBody>
          <a:bodyPr/>
          <a:lstStyle/>
          <a:p>
            <a:r>
              <a:rPr lang="en-US" dirty="0">
                <a:solidFill>
                  <a:srgbClr val="003057"/>
                </a:solidFill>
              </a:rPr>
              <a:t>Generate synthetic sleep data</a:t>
            </a:r>
          </a:p>
          <a:p>
            <a:r>
              <a:rPr lang="en-US" dirty="0"/>
              <a:t>Wrap data in FHIR resources</a:t>
            </a:r>
          </a:p>
          <a:p>
            <a:r>
              <a:rPr lang="en-US" dirty="0">
                <a:solidFill>
                  <a:srgbClr val="003057"/>
                </a:solidFill>
              </a:rPr>
              <a:t>Provide API endpoints</a:t>
            </a:r>
          </a:p>
          <a:p>
            <a:r>
              <a:rPr lang="en-US" dirty="0"/>
              <a:t>Dashboard fetches multi-night series</a:t>
            </a:r>
          </a:p>
          <a:p>
            <a:r>
              <a:rPr lang="en-US" dirty="0">
                <a:solidFill>
                  <a:srgbClr val="003057"/>
                </a:solidFill>
              </a:rPr>
              <a:t>Chat.js visualizes total sleep hours</a:t>
            </a:r>
          </a:p>
          <a:p>
            <a:r>
              <a:rPr lang="en-US" dirty="0"/>
              <a:t>FHIR JSON is viewable directly</a:t>
            </a:r>
            <a:endParaRPr lang="en-US" dirty="0">
              <a:solidFill>
                <a:srgbClr val="0030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53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D3FC-0E76-72FB-51FA-F57ED6A9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C571C7-9331-7704-ECC0-242EB11E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Key Features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14EA34-5325-D58B-4D74-68619741D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23474"/>
            <a:ext cx="11430000" cy="4488365"/>
          </a:xfrm>
        </p:spPr>
        <p:txBody>
          <a:bodyPr/>
          <a:lstStyle/>
          <a:p>
            <a:r>
              <a:rPr lang="en-US" dirty="0">
                <a:solidFill>
                  <a:srgbClr val="003057"/>
                </a:solidFill>
              </a:rPr>
              <a:t>Multi-night sleep series</a:t>
            </a:r>
          </a:p>
          <a:p>
            <a:r>
              <a:rPr lang="en-US" dirty="0"/>
              <a:t>Probability-based sleep quality</a:t>
            </a:r>
          </a:p>
          <a:p>
            <a:r>
              <a:rPr lang="en-US" dirty="0">
                <a:solidFill>
                  <a:srgbClr val="003057"/>
                </a:solidFill>
              </a:rPr>
              <a:t>Patient information panel</a:t>
            </a:r>
          </a:p>
          <a:p>
            <a:r>
              <a:rPr lang="en-US" dirty="0"/>
              <a:t>FHIR bundle output</a:t>
            </a:r>
          </a:p>
          <a:p>
            <a:r>
              <a:rPr lang="en-US" dirty="0">
                <a:solidFill>
                  <a:srgbClr val="003057"/>
                </a:solidFill>
              </a:rPr>
              <a:t>Deployed on Rendor</a:t>
            </a:r>
          </a:p>
          <a:p>
            <a:r>
              <a:rPr lang="en-US" dirty="0"/>
              <a:t>Simple, readable dashboard</a:t>
            </a:r>
            <a:endParaRPr lang="en-US" dirty="0">
              <a:solidFill>
                <a:srgbClr val="0030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931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89ADE-46AA-C94F-9F22-E09CA00CF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94EF0E-E90E-D5E2-2604-C5B9A346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Demo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DD7512-4ED8-9C98-7947-83A1F465B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23474"/>
            <a:ext cx="11430000" cy="4488365"/>
          </a:xfrm>
        </p:spPr>
        <p:txBody>
          <a:bodyPr/>
          <a:lstStyle/>
          <a:p>
            <a:r>
              <a:rPr lang="en-US" dirty="0">
                <a:solidFill>
                  <a:srgbClr val="003057"/>
                </a:solidFill>
              </a:rPr>
              <a:t>Dashboard overview</a:t>
            </a:r>
          </a:p>
          <a:p>
            <a:r>
              <a:rPr lang="en-US" dirty="0"/>
              <a:t>Multiple-night sleep graph</a:t>
            </a:r>
          </a:p>
          <a:p>
            <a:r>
              <a:rPr lang="en-US" dirty="0">
                <a:solidFill>
                  <a:srgbClr val="003057"/>
                </a:solidFill>
              </a:rPr>
              <a:t>Raw sleep JSON</a:t>
            </a:r>
          </a:p>
          <a:p>
            <a:r>
              <a:rPr lang="en-US" dirty="0"/>
              <a:t>FHIR bundle view</a:t>
            </a:r>
          </a:p>
          <a:p>
            <a:r>
              <a:rPr lang="en-US" dirty="0"/>
              <a:t>Rendor deployment</a:t>
            </a:r>
            <a:endParaRPr lang="en-US" dirty="0">
              <a:solidFill>
                <a:srgbClr val="0030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416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937C3-2E2F-8B07-7788-BA16D1834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3E30C9-A353-3CC1-C328-30DED49DB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Future Work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279E48-0F3A-54B0-9DBD-F79162A6C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23474"/>
            <a:ext cx="11430000" cy="4488365"/>
          </a:xfrm>
        </p:spPr>
        <p:txBody>
          <a:bodyPr/>
          <a:lstStyle/>
          <a:p>
            <a:r>
              <a:rPr lang="en-US" dirty="0"/>
              <a:t>Store data instead of regenerating (remove stateless issues on each API)</a:t>
            </a:r>
          </a:p>
          <a:p>
            <a:r>
              <a:rPr lang="en-US" dirty="0">
                <a:solidFill>
                  <a:srgbClr val="003057"/>
                </a:solidFill>
              </a:rPr>
              <a:t>Connect to a real FHIR server</a:t>
            </a:r>
          </a:p>
          <a:p>
            <a:r>
              <a:rPr lang="en-US" dirty="0"/>
              <a:t>Multiple patient</a:t>
            </a:r>
          </a:p>
          <a:p>
            <a:r>
              <a:rPr lang="en-US" dirty="0">
                <a:solidFill>
                  <a:srgbClr val="003057"/>
                </a:solidFill>
              </a:rPr>
              <a:t>Wearable device data</a:t>
            </a:r>
          </a:p>
        </p:txBody>
      </p:sp>
    </p:spTree>
    <p:extLst>
      <p:ext uri="{BB962C8B-B14F-4D97-AF65-F5344CB8AC3E}">
        <p14:creationId xmlns:p14="http://schemas.microsoft.com/office/powerpoint/2010/main" val="3171310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0528-5225-C4D2-FDE0-4BED6C93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3F6FC8-C2F2-1ABC-6931-718929337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37478-8986-E872-C424-BA93B208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23474"/>
            <a:ext cx="11430000" cy="4488365"/>
          </a:xfrm>
        </p:spPr>
        <p:txBody>
          <a:bodyPr/>
          <a:lstStyle/>
          <a:p>
            <a:r>
              <a:rPr lang="en-US" dirty="0"/>
              <a:t>Demonstrated sleep tracking for cancer patients aligned with FHIR</a:t>
            </a:r>
          </a:p>
          <a:p>
            <a:r>
              <a:rPr lang="en-US" dirty="0">
                <a:solidFill>
                  <a:srgbClr val="003057"/>
                </a:solidFill>
              </a:rPr>
              <a:t>Provided structured and interoperable sleep data</a:t>
            </a:r>
          </a:p>
          <a:p>
            <a:r>
              <a:rPr lang="en-US" dirty="0"/>
              <a:t>Lightweight, understandable, and fully deployed</a:t>
            </a:r>
            <a:endParaRPr lang="en-US" dirty="0">
              <a:solidFill>
                <a:srgbClr val="0030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19388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Tech_PPTtemplate_2021_wide" id="{E85096BA-033B-D848-B268-A76C8AE5D2A4}" vid="{1C4A0A5B-2267-F04A-B00C-3FCDF7CFA02E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Tech_PPTtemplate_2021_wide" id="{E85096BA-033B-D848-B268-A76C8AE5D2A4}" vid="{C86BDF43-62E5-5C4C-BBB8-C9F54843079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GATech_PPTtemplate_2021_wide</Template>
  <TotalTime>73</TotalTime>
  <Words>255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Roboto</vt:lpstr>
      <vt:lpstr>Custom Design</vt:lpstr>
      <vt:lpstr>1_Custom Design</vt:lpstr>
      <vt:lpstr>Sleep Tracking for Cancer Patients</vt:lpstr>
      <vt:lpstr>Project Summary</vt:lpstr>
      <vt:lpstr>Background and Need</vt:lpstr>
      <vt:lpstr>Solution Overview</vt:lpstr>
      <vt:lpstr>Architecture Diagram</vt:lpstr>
      <vt:lpstr>Workflow</vt:lpstr>
      <vt:lpstr>Key Features</vt:lpstr>
      <vt:lpstr>Demo</vt:lpstr>
      <vt:lpstr>Future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Lael Rudd</dc:creator>
  <cp:lastModifiedBy>Rudd, Jen</cp:lastModifiedBy>
  <cp:revision>9</cp:revision>
  <dcterms:created xsi:type="dcterms:W3CDTF">2025-11-22T12:00:53Z</dcterms:created>
  <dcterms:modified xsi:type="dcterms:W3CDTF">2025-11-22T18:54:37Z</dcterms:modified>
</cp:coreProperties>
</file>